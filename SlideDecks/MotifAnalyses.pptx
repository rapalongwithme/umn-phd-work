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64" r:id="rId5"/>
    <p:sldId id="268" r:id="rId6"/>
    <p:sldId id="265" r:id="rId7"/>
    <p:sldId id="257" r:id="rId8"/>
    <p:sldId id="261" r:id="rId9"/>
    <p:sldId id="263" r:id="rId10"/>
    <p:sldId id="262" r:id="rId11"/>
    <p:sldId id="259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/>
    <p:restoredTop sz="94631"/>
  </p:normalViewPr>
  <p:slideViewPr>
    <p:cSldViewPr snapToGrid="0">
      <p:cViewPr varScale="1">
        <p:scale>
          <a:sx n="123" d="100"/>
          <a:sy n="123" d="100"/>
        </p:scale>
        <p:origin x="19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11F37-CD8B-EE45-9C47-628941A298B0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83976-6577-6F4E-8ECF-F689D7911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7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83976-6577-6F4E-8ECF-F689D79112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9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A477-767A-9DFD-AEDE-9BC5CD02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31A89-F20F-935C-9FBE-B052724EE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A9DF6-AB0F-D9BD-5FE1-83DD4CDA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E03C-FCFF-9284-185E-A7B87F70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E6F46-35CF-3AC1-95BF-7330DE48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9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B9C0-31BF-E061-A06A-151ADFFC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46EC-2B66-239A-E5F8-5A341BAEB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713E8-445A-94B8-0740-9420810E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C0F9A-2F32-8E55-5162-F6801199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67B7A-6C5E-6A75-E2C9-D316FE8F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4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43811-EE64-D191-0291-A5B8FC63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1D843-7231-B1B5-2BFC-9FE90D437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253DF-E619-5110-DCDD-6CDD4E22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BE37-C10A-FE5C-ADF2-6C9B77E0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1A51E-2886-6CE0-6251-E9CE8959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3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713C-CC11-A425-316A-9E22E407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240D4-3ECF-A827-3E40-335028380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C4341-3DDA-5684-B9B8-246CD74C4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65939-7A80-C311-E12C-7809E6BA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FC3A5-B354-7A37-7427-DE1365B4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D9729-132C-5FEA-2BBC-4A06BF45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42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CC62-8562-574D-FA58-11F56CDE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57539-8326-FC21-9EE3-F6198E60B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79C69-13AA-76EE-4056-7CC6E9BF4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C3306-C5AE-0711-DC4D-03243C370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D3BC8-DABA-0F3F-A474-C27A7DB8F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DD75D-649B-D862-D951-4022D2F3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274BE-3279-9AFE-AB47-C1F8F3C2C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0A156-D43D-12C4-5EAF-DA9C4A09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59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F1DE-FD4F-D2C3-C469-014647E1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5AD6F-FD13-5978-13E6-AFEA3E27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8C386-3A0B-4C6F-0A95-042CF358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4CF48-93E0-8965-25E6-9701A983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1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F4449-485D-D324-7254-4707636E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500C0-05F1-D32E-9592-56FFAC61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382EF-E64A-1351-B3AD-61883D72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4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002E-B27D-E37A-C40E-0BE6B408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9C7E8-9C9B-507E-AD63-BADC2B97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263D6-3F9A-2549-93B5-2E50EC8B1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BEFF3-1B0F-6FCE-FBA8-B32B09AF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4D5D6-D4EC-F7C1-E9DD-3BDBEC5DE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9B09F-CA35-7BCB-C210-F62F5539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6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C315-F8CA-EC38-E7AC-BBCDA338A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1EF39-54A3-1884-0982-BA0FF7404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D79F-A327-ECCF-1825-BF378DB12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1A469-77FF-7220-FD74-CB5D4FE7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8A391-64AC-8CFA-8E24-D1C753E0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4918D-1BAA-1BB6-0420-E4CC28E9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4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1007-2BD5-FC18-68D8-8CF14125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0FE21-6A6F-D9D9-C749-272323DE5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2D18F-721A-091B-348A-A4B1AE42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3FDAF-8B06-0E73-8347-7691ED82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856D-99FF-8B89-F71E-6067BDC7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F02F71-2242-C851-9FEC-157DEA571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23801-3C93-1602-6032-803CE1C5B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15112-7C3B-FD25-3C53-F6B4D317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FC571-8041-5842-F700-3BCC123C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4F784-2A92-D2D7-332E-3B708748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7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DCC7E-A997-66CC-396F-FEAE70B4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EBB1-2F32-A2F7-207D-E2723C1AE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62F56-364A-2FC5-5C4B-9D7E9BF72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66AAB-2DC9-3D4D-B255-AC03A198ACC4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40152-FB69-3D5D-C3B8-62C6E6E549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FC67-E197-1B94-5C0F-D985E8F96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9ADC3-CE53-CE4D-AD09-C125703DE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2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enchling.com/s/seq-RXOkYBQPQO3OY2glyMdm?m=slm-UsWSjSWEN5SE42AZ464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75F45-3FF8-F9CE-2222-0CE7D896ED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F1044-5944-7E2B-46B6-F28834ECAE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B091-53EA-3A54-EEE2-C1AAA998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1125"/>
            <a:ext cx="10515600" cy="1325563"/>
          </a:xfrm>
        </p:spPr>
        <p:txBody>
          <a:bodyPr/>
          <a:lstStyle/>
          <a:p>
            <a:r>
              <a:rPr lang="en-US" dirty="0"/>
              <a:t>John Lovell – motif enrichment</a:t>
            </a:r>
          </a:p>
        </p:txBody>
      </p:sp>
    </p:spTree>
    <p:extLst>
      <p:ext uri="{BB962C8B-B14F-4D97-AF65-F5344CB8AC3E}">
        <p14:creationId xmlns:p14="http://schemas.microsoft.com/office/powerpoint/2010/main" val="189568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C75AB-25D7-0F24-FA0B-CD4A7E61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EFF2F-87F8-E926-853F-3B0DC7B8A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6402"/>
          </a:xfrm>
        </p:spPr>
        <p:txBody>
          <a:bodyPr/>
          <a:lstStyle/>
          <a:p>
            <a:r>
              <a:rPr lang="en-US" dirty="0"/>
              <a:t>Manually searched for [A/G]CCGAC in the 1kb promoters that John made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1479D-923D-D557-9FFF-387D0659AACA}"/>
              </a:ext>
            </a:extLst>
          </p:cNvPr>
          <p:cNvSpPr txBox="1"/>
          <p:nvPr/>
        </p:nvSpPr>
        <p:spPr>
          <a:xfrm>
            <a:off x="1000125" y="2846964"/>
            <a:ext cx="19093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L58: 22714</a:t>
            </a:r>
          </a:p>
          <a:p>
            <a:r>
              <a:rPr lang="en-US" dirty="0"/>
              <a:t># A03: 22482</a:t>
            </a:r>
          </a:p>
          <a:p>
            <a:r>
              <a:rPr lang="en-US" dirty="0"/>
              <a:t># </a:t>
            </a:r>
            <a:r>
              <a:rPr lang="en-US" dirty="0" err="1"/>
              <a:t>PCGlu</a:t>
            </a:r>
            <a:r>
              <a:rPr lang="en-US" dirty="0"/>
              <a:t>: 22620 </a:t>
            </a:r>
          </a:p>
          <a:p>
            <a:r>
              <a:rPr lang="en-US" dirty="0"/>
              <a:t># R500: 22744</a:t>
            </a:r>
          </a:p>
          <a:p>
            <a:r>
              <a:rPr lang="en-US" dirty="0"/>
              <a:t># VT123: 22684</a:t>
            </a:r>
          </a:p>
          <a:p>
            <a:r>
              <a:rPr lang="en-US" dirty="0"/>
              <a:t># WO83: 22482</a:t>
            </a:r>
          </a:p>
        </p:txBody>
      </p:sp>
    </p:spTree>
    <p:extLst>
      <p:ext uri="{BB962C8B-B14F-4D97-AF65-F5344CB8AC3E}">
        <p14:creationId xmlns:p14="http://schemas.microsoft.com/office/powerpoint/2010/main" val="1612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D1C1-BB1C-6CB9-040D-999DF2C5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CRTF 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010E5-D038-10CB-0EF7-D52B9139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DEC3F-8E33-A611-1C73-147170BC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B42D-1846-508B-D930-3702953C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CRTF based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68FE4-7529-C150-770C-D1DED8DED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B960-AC3F-E6A5-E7AD-9B84887B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718" y="2349788"/>
            <a:ext cx="10515600" cy="1325563"/>
          </a:xfrm>
        </p:spPr>
        <p:txBody>
          <a:bodyPr/>
          <a:lstStyle/>
          <a:p>
            <a:r>
              <a:rPr lang="en-US" dirty="0"/>
              <a:t>GRN-based approach</a:t>
            </a:r>
          </a:p>
        </p:txBody>
      </p:sp>
    </p:spTree>
    <p:extLst>
      <p:ext uri="{BB962C8B-B14F-4D97-AF65-F5344CB8AC3E}">
        <p14:creationId xmlns:p14="http://schemas.microsoft.com/office/powerpoint/2010/main" val="316473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6674F8F-BF46-9554-42F9-01F3E32308B1}"/>
              </a:ext>
            </a:extLst>
          </p:cNvPr>
          <p:cNvSpPr txBox="1"/>
          <p:nvPr/>
        </p:nvSpPr>
        <p:spPr>
          <a:xfrm>
            <a:off x="635619" y="1293541"/>
            <a:ext cx="91404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looking for candidate binding motifs that known CR TFs have been shown to bind to </a:t>
            </a:r>
          </a:p>
          <a:p>
            <a:r>
              <a:rPr lang="en-US" dirty="0"/>
              <a:t>	Ex: DREB/CRTs, Evening Element (EE), DOFs, </a:t>
            </a:r>
            <a:r>
              <a:rPr lang="en-US" dirty="0" err="1"/>
              <a:t>ect</a:t>
            </a:r>
            <a:r>
              <a:rPr lang="en-US" dirty="0"/>
              <a:t> </a:t>
            </a:r>
          </a:p>
          <a:p>
            <a:r>
              <a:rPr lang="en-US" dirty="0"/>
              <a:t>	Only included motifs that had good evidence for binding; i.e. EMSA or </a:t>
            </a:r>
            <a:r>
              <a:rPr lang="en-US" dirty="0" err="1"/>
              <a:t>ChIP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F70956-FDB5-FCF7-F1DE-C6D49F9A98F4}"/>
              </a:ext>
            </a:extLst>
          </p:cNvPr>
          <p:cNvSpPr txBox="1"/>
          <p:nvPr/>
        </p:nvSpPr>
        <p:spPr>
          <a:xfrm>
            <a:off x="197013" y="2427247"/>
            <a:ext cx="11779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using our </a:t>
            </a:r>
            <a:r>
              <a:rPr lang="en-US" u="sng" dirty="0"/>
              <a:t>cold responsive </a:t>
            </a:r>
            <a:r>
              <a:rPr lang="en-US" dirty="0"/>
              <a:t>GRNs to identify significant edges between each CR TFs and their predicted targets</a:t>
            </a:r>
          </a:p>
          <a:p>
            <a:r>
              <a:rPr lang="en-US" dirty="0"/>
              <a:t>We then focusing on targets that: </a:t>
            </a:r>
          </a:p>
          <a:p>
            <a:r>
              <a:rPr lang="en-US" dirty="0"/>
              <a:t>1. Are paralogs </a:t>
            </a:r>
          </a:p>
          <a:p>
            <a:r>
              <a:rPr lang="en-US" dirty="0"/>
              <a:t>2. Are part of an orthologous group that contains (at least) one CR paralog AND (at least) one non-CR paralog</a:t>
            </a:r>
          </a:p>
          <a:p>
            <a:r>
              <a:rPr lang="en-US" dirty="0"/>
              <a:t>3. Have a known binding motif (for that CR TF) at least once in one of the remaining paralogs </a:t>
            </a:r>
          </a:p>
          <a:p>
            <a:endParaRPr lang="en-US" dirty="0"/>
          </a:p>
          <a:p>
            <a:r>
              <a:rPr lang="en-US" dirty="0"/>
              <a:t>Since we were only able to run the motif analyses on the reference lines, the candidates will be taken from the six reference lines</a:t>
            </a:r>
          </a:p>
        </p:txBody>
      </p:sp>
    </p:spTree>
    <p:extLst>
      <p:ext uri="{BB962C8B-B14F-4D97-AF65-F5344CB8AC3E}">
        <p14:creationId xmlns:p14="http://schemas.microsoft.com/office/powerpoint/2010/main" val="15526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0C45-625D-4816-316A-7890F3F5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7DB0-AC5A-42FA-2BC9-1A0EDFAA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913643"/>
          </a:xfrm>
        </p:spPr>
        <p:txBody>
          <a:bodyPr/>
          <a:lstStyle/>
          <a:p>
            <a:r>
              <a:rPr lang="en-US" dirty="0"/>
              <a:t>Also checked that our filtering scheme (FIMO score) for the final list of motifs associated with </a:t>
            </a:r>
            <a:r>
              <a:rPr lang="en-US" dirty="0" err="1"/>
              <a:t>Brapa</a:t>
            </a:r>
            <a:r>
              <a:rPr lang="en-US" dirty="0"/>
              <a:t> genes isn’t affecting our ability to pull out genes with associated motifs</a:t>
            </a:r>
          </a:p>
          <a:p>
            <a:pPr lvl="1"/>
            <a:r>
              <a:rPr lang="en-US" dirty="0"/>
              <a:t>In general, there is little difference between the number of genes with a motif across the various motif datasets I have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One possible exception is TOC1</a:t>
            </a:r>
          </a:p>
        </p:txBody>
      </p:sp>
    </p:spTree>
    <p:extLst>
      <p:ext uri="{BB962C8B-B14F-4D97-AF65-F5344CB8AC3E}">
        <p14:creationId xmlns:p14="http://schemas.microsoft.com/office/powerpoint/2010/main" val="915326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5EF6-95C8-C33E-E362-FEDDA85A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0F04-0EE1-7F4D-EBF4-56D2FDE5A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TOC1 Targets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C0480-53D2-D563-E249-412F7E27A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102"/>
          </a:xfrm>
        </p:spPr>
        <p:txBody>
          <a:bodyPr>
            <a:normAutofit fontScale="92500"/>
          </a:bodyPr>
          <a:lstStyle/>
          <a:p>
            <a:r>
              <a:rPr lang="en-US" dirty="0"/>
              <a:t>TOC1 is known to bind to the Evening Element (EE) motif (AAAATATCT)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50AE0-4898-1D8B-CAD8-B93D5D72BB75}"/>
              </a:ext>
            </a:extLst>
          </p:cNvPr>
          <p:cNvSpPr txBox="1"/>
          <p:nvPr/>
        </p:nvSpPr>
        <p:spPr>
          <a:xfrm>
            <a:off x="111512" y="3016250"/>
            <a:ext cx="117199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we ignore genes that don’t have at least one predicted EE (per Og) we no longer have hits with the exciting targets like we did previously </a:t>
            </a:r>
          </a:p>
          <a:p>
            <a:r>
              <a:rPr lang="en-US" dirty="0">
                <a:solidFill>
                  <a:srgbClr val="C00000"/>
                </a:solidFill>
              </a:rPr>
              <a:t>- Perhaps we should ignore FIMO filtering? </a:t>
            </a:r>
          </a:p>
        </p:txBody>
      </p:sp>
    </p:spTree>
    <p:extLst>
      <p:ext uri="{BB962C8B-B14F-4D97-AF65-F5344CB8AC3E}">
        <p14:creationId xmlns:p14="http://schemas.microsoft.com/office/powerpoint/2010/main" val="4238875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217B-382E-5326-0ADE-4D773CD5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85FA-8A05-A283-47FF-F4B319BD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C403CA-749E-D406-309B-7E4F232A9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15" y="2781295"/>
            <a:ext cx="10515600" cy="98822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297BC8-E8B9-B3EF-5E07-44995C98043D}"/>
              </a:ext>
            </a:extLst>
          </p:cNvPr>
          <p:cNvSpPr txBox="1"/>
          <p:nvPr/>
        </p:nvSpPr>
        <p:spPr>
          <a:xfrm>
            <a:off x="514815" y="1929051"/>
            <a:ext cx="946586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CBF1 Target – KPI1</a:t>
            </a:r>
          </a:p>
          <a:p>
            <a:r>
              <a:rPr lang="en-US" dirty="0"/>
              <a:t>Top: VT123 Copy2 (CR)	Middle: ACC50; same copy not CR  	Bottom: R500 Copy1 not CR </a:t>
            </a:r>
          </a:p>
          <a:p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3494E-474B-33B9-3714-74EF4736252F}"/>
              </a:ext>
            </a:extLst>
          </p:cNvPr>
          <p:cNvSpPr txBox="1"/>
          <p:nvPr/>
        </p:nvSpPr>
        <p:spPr>
          <a:xfrm>
            <a:off x="1070517" y="3942988"/>
            <a:ext cx="96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Seems like what I need is a way to see the whole promoter but color/outline the motifs of interest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3DED62-0784-ED88-9ACD-E4F1026D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15" y="5375910"/>
            <a:ext cx="10508628" cy="988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1F6B39-24CB-1132-7668-D3D2B4ECF200}"/>
              </a:ext>
            </a:extLst>
          </p:cNvPr>
          <p:cNvSpPr txBox="1"/>
          <p:nvPr/>
        </p:nvSpPr>
        <p:spPr>
          <a:xfrm>
            <a:off x="514814" y="4675846"/>
            <a:ext cx="97213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ICE2 Target – </a:t>
            </a:r>
            <a:r>
              <a:rPr lang="en-US" sz="2400" b="0" i="0" dirty="0">
                <a:effectLst/>
                <a:latin typeface="Slack-Lato"/>
              </a:rPr>
              <a:t>AVA-P2</a:t>
            </a:r>
          </a:p>
          <a:p>
            <a:r>
              <a:rPr lang="en-US" dirty="0"/>
              <a:t>Top: VT123 Copy2 (CR)	Middle: VT123 Copy 3not CR  	Bottom: ACC28 Copy3 not CR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112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8637-ED7E-5BB1-630C-B90DFB60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ICE2 Targets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DEF3-E7C8-8EC8-3BBD-4493246E2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102"/>
          </a:xfrm>
        </p:spPr>
        <p:txBody>
          <a:bodyPr/>
          <a:lstStyle/>
          <a:p>
            <a:r>
              <a:rPr lang="en-US" dirty="0"/>
              <a:t>ICE2 is known to bind to DREB/CRT motifs ([A/G]CCGAC)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451E1-492B-6400-4B8E-1BC7FB0E7A1A}"/>
              </a:ext>
            </a:extLst>
          </p:cNvPr>
          <p:cNvSpPr txBox="1"/>
          <p:nvPr/>
        </p:nvSpPr>
        <p:spPr>
          <a:xfrm>
            <a:off x="1215483" y="3055434"/>
            <a:ext cx="93977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good example of a CR copy vs </a:t>
            </a:r>
            <a:r>
              <a:rPr lang="en-US" dirty="0" err="1"/>
              <a:t>nonCR</a:t>
            </a:r>
            <a:r>
              <a:rPr lang="en-US" dirty="0"/>
              <a:t> – potential candidate!! </a:t>
            </a:r>
          </a:p>
          <a:p>
            <a:r>
              <a:rPr lang="en-US" dirty="0">
                <a:hlinkClick r:id="rId2"/>
              </a:rPr>
              <a:t>https://benchling.com/s/seq-RXOkYBQPQO3OY2glyMdm?m=slm-UsWSjSWEN5SE42AZ464g</a:t>
            </a:r>
            <a:endParaRPr lang="en-US" dirty="0"/>
          </a:p>
          <a:p>
            <a:r>
              <a:rPr lang="en-US" b="0" i="0" dirty="0">
                <a:solidFill>
                  <a:srgbClr val="2C3E50"/>
                </a:solidFill>
                <a:effectLst/>
                <a:latin typeface="Avenir" panose="02000503020000020003" pitchFamily="2" charset="0"/>
              </a:rPr>
              <a:t>MEE4 (maternal effect embryo arrest 4) (Primary Symbol)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31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90A5-9CAD-493B-A4CF-CDC1D753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93190C1-50B3-1922-4030-FA520D4355F9}"/>
              </a:ext>
            </a:extLst>
          </p:cNvPr>
          <p:cNvGrpSpPr/>
          <p:nvPr/>
        </p:nvGrpSpPr>
        <p:grpSpPr>
          <a:xfrm>
            <a:off x="200722" y="2581434"/>
            <a:ext cx="12312007" cy="2130950"/>
            <a:chOff x="0" y="0"/>
            <a:chExt cx="12312007" cy="21309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1757127-342B-D4FA-D0F2-AEB62853B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687" b="68156"/>
            <a:stretch/>
          </p:blipFill>
          <p:spPr>
            <a:xfrm>
              <a:off x="2028291" y="0"/>
              <a:ext cx="10283716" cy="199561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BC8833-5100-6E70-E310-2EA97C81F7A4}"/>
                </a:ext>
              </a:extLst>
            </p:cNvPr>
            <p:cNvSpPr txBox="1"/>
            <p:nvPr/>
          </p:nvSpPr>
          <p:spPr>
            <a:xfrm>
              <a:off x="0" y="518288"/>
              <a:ext cx="2188804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Hn53: COPY 2 (</a:t>
              </a:r>
              <a:r>
                <a:rPr lang="en-US" dirty="0" err="1"/>
                <a:t>kME</a:t>
              </a:r>
              <a:r>
                <a:rPr lang="en-US" dirty="0"/>
                <a:t>)</a:t>
              </a:r>
            </a:p>
            <a:p>
              <a:endParaRPr lang="en-US" dirty="0"/>
            </a:p>
            <a:p>
              <a:r>
                <a:rPr lang="en-US" dirty="0"/>
                <a:t>A03: COPY 3</a:t>
              </a:r>
            </a:p>
            <a:p>
              <a:endParaRPr lang="en-US" dirty="0"/>
            </a:p>
            <a:p>
              <a:r>
                <a:rPr lang="en-US" dirty="0"/>
                <a:t>ZCT: COPY 2</a:t>
              </a: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596E513A-AE14-7A6C-CD3A-E21B1F025C81}"/>
                </a:ext>
              </a:extLst>
            </p:cNvPr>
            <p:cNvSpPr/>
            <p:nvPr/>
          </p:nvSpPr>
          <p:spPr>
            <a:xfrm>
              <a:off x="5899868" y="302150"/>
              <a:ext cx="135172" cy="1828800"/>
            </a:xfrm>
            <a:prstGeom prst="frame">
              <a:avLst>
                <a:gd name="adj1" fmla="val 112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2" name="Picture 11" descr="A white rectangular sign with colorful text&#10;&#10;Description automatically generated">
            <a:extLst>
              <a:ext uri="{FF2B5EF4-FFF2-40B4-BE49-F238E27FC236}">
                <a16:creationId xmlns:a16="http://schemas.microsoft.com/office/drawing/2014/main" id="{8B93FB06-B763-96B6-5E08-FF9200715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06" y="4726716"/>
            <a:ext cx="3553665" cy="20144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242100-6D29-60DB-302D-13DBBC186405}"/>
              </a:ext>
            </a:extLst>
          </p:cNvPr>
          <p:cNvSpPr txBox="1"/>
          <p:nvPr/>
        </p:nvSpPr>
        <p:spPr>
          <a:xfrm>
            <a:off x="7872760" y="5327196"/>
            <a:ext cx="194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ERF Motif family?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24E058-3858-851A-C6D3-28A84F3E87FB}"/>
              </a:ext>
            </a:extLst>
          </p:cNvPr>
          <p:cNvCxnSpPr/>
          <p:nvPr/>
        </p:nvCxnSpPr>
        <p:spPr>
          <a:xfrm flipH="1">
            <a:off x="7582856" y="5733965"/>
            <a:ext cx="22302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screen shot of a computer&#10;&#10;Description automatically generated">
            <a:extLst>
              <a:ext uri="{FF2B5EF4-FFF2-40B4-BE49-F238E27FC236}">
                <a16:creationId xmlns:a16="http://schemas.microsoft.com/office/drawing/2014/main" id="{8D11AF4A-4C73-F1F0-3E34-BFE84A45C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558" y="490654"/>
            <a:ext cx="3446313" cy="18177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6147A30-7F59-6DEC-4DE7-13FE7723F1EF}"/>
              </a:ext>
            </a:extLst>
          </p:cNvPr>
          <p:cNvSpPr txBox="1"/>
          <p:nvPr/>
        </p:nvSpPr>
        <p:spPr>
          <a:xfrm>
            <a:off x="7499277" y="917122"/>
            <a:ext cx="3674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Source Sans Pro" panose="020F0502020204030204" pitchFamily="34" charset="0"/>
              </a:rPr>
              <a:t>BBR/BPC Motif family? </a:t>
            </a:r>
          </a:p>
          <a:p>
            <a:r>
              <a:rPr lang="en-US" dirty="0">
                <a:solidFill>
                  <a:srgbClr val="333333"/>
                </a:solidFill>
                <a:latin typeface="Source Sans Pro" panose="020F0502020204030204" pitchFamily="34" charset="0"/>
              </a:rPr>
              <a:t>Similar to DREB2 binding site (GGTGGT vs GGCGGT)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F60DF0-6422-5106-3364-88107995EE0E}"/>
              </a:ext>
            </a:extLst>
          </p:cNvPr>
          <p:cNvCxnSpPr/>
          <p:nvPr/>
        </p:nvCxnSpPr>
        <p:spPr>
          <a:xfrm flipH="1">
            <a:off x="7499277" y="1943682"/>
            <a:ext cx="223024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A1348AE-13DB-6E7C-64BB-782A5FA30EF5}"/>
              </a:ext>
            </a:extLst>
          </p:cNvPr>
          <p:cNvSpPr txBox="1"/>
          <p:nvPr/>
        </p:nvSpPr>
        <p:spPr>
          <a:xfrm>
            <a:off x="100049" y="732456"/>
            <a:ext cx="3824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GENES ARE THESE FROM????</a:t>
            </a:r>
          </a:p>
          <a:p>
            <a:r>
              <a:rPr lang="en-US" dirty="0">
                <a:solidFill>
                  <a:srgbClr val="FF0000"/>
                </a:solidFill>
              </a:rPr>
              <a:t>I THINK ICE1 TARGETS….</a:t>
            </a:r>
          </a:p>
        </p:txBody>
      </p:sp>
    </p:spTree>
    <p:extLst>
      <p:ext uri="{BB962C8B-B14F-4D97-AF65-F5344CB8AC3E}">
        <p14:creationId xmlns:p14="http://schemas.microsoft.com/office/powerpoint/2010/main" val="232122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4418</TotalTime>
  <Words>497</Words>
  <Application>Microsoft Macintosh PowerPoint</Application>
  <PresentationFormat>Widescreen</PresentationFormat>
  <Paragraphs>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Avenir</vt:lpstr>
      <vt:lpstr>Slack-Lato</vt:lpstr>
      <vt:lpstr>Source Sans Pro</vt:lpstr>
      <vt:lpstr>Office Theme</vt:lpstr>
      <vt:lpstr>PowerPoint Presentation</vt:lpstr>
      <vt:lpstr>John Lovell – motif enrichment</vt:lpstr>
      <vt:lpstr>PowerPoint Presentation</vt:lpstr>
      <vt:lpstr>Known CRTF based approach</vt:lpstr>
      <vt:lpstr>Known CRTF based approach</vt:lpstr>
      <vt:lpstr>GRN-based approach</vt:lpstr>
      <vt:lpstr>PowerPoint Presentation</vt:lpstr>
      <vt:lpstr>PowerPoint Presentation</vt:lpstr>
      <vt:lpstr>TOC1 Targets </vt:lpstr>
      <vt:lpstr>PowerPoint Presentation</vt:lpstr>
      <vt:lpstr>ICE2 Targets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Ricono</dc:creator>
  <cp:lastModifiedBy>Angela Ricono</cp:lastModifiedBy>
  <cp:revision>4</cp:revision>
  <dcterms:created xsi:type="dcterms:W3CDTF">2025-09-02T17:56:52Z</dcterms:created>
  <dcterms:modified xsi:type="dcterms:W3CDTF">2025-10-02T17:01:33Z</dcterms:modified>
</cp:coreProperties>
</file>